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77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0949" y="108854"/>
            <a:ext cx="50241" cy="50241"/>
          </a:xfrm>
          <a:prstGeom prst="rect">
            <a:avLst/>
          </a:prstGeom>
          <a:solidFill>
            <a:srgbClr val="D4871E"/>
          </a:solidFill>
          <a:ln/>
        </p:spPr>
      </p:sp>
      <p:sp>
        <p:nvSpPr>
          <p:cNvPr id="3" name="Shape 1"/>
          <p:cNvSpPr/>
          <p:nvPr/>
        </p:nvSpPr>
        <p:spPr>
          <a:xfrm>
            <a:off x="1671334" y="108854"/>
            <a:ext cx="50241" cy="50241"/>
          </a:xfrm>
          <a:prstGeom prst="rect">
            <a:avLst/>
          </a:prstGeom>
          <a:solidFill>
            <a:srgbClr val="2FA8D8"/>
          </a:solidFill>
          <a:ln/>
        </p:spPr>
      </p:sp>
      <p:sp>
        <p:nvSpPr>
          <p:cNvPr id="4" name="Shape 2"/>
          <p:cNvSpPr/>
          <p:nvPr/>
        </p:nvSpPr>
        <p:spPr>
          <a:xfrm>
            <a:off x="1751719" y="108854"/>
            <a:ext cx="50241" cy="50241"/>
          </a:xfrm>
          <a:prstGeom prst="rect">
            <a:avLst/>
          </a:prstGeom>
          <a:solidFill>
            <a:srgbClr val="C23A7A"/>
          </a:solidFill>
          <a:ln/>
        </p:spPr>
      </p:sp>
      <p:sp>
        <p:nvSpPr>
          <p:cNvPr id="5" name="Shape 3"/>
          <p:cNvSpPr/>
          <p:nvPr/>
        </p:nvSpPr>
        <p:spPr>
          <a:xfrm>
            <a:off x="1832104" y="108854"/>
            <a:ext cx="50241" cy="50241"/>
          </a:xfrm>
          <a:prstGeom prst="rect">
            <a:avLst/>
          </a:prstGeom>
          <a:solidFill>
            <a:srgbClr val="1E9E78"/>
          </a:solidFill>
          <a:ln/>
        </p:spPr>
      </p:sp>
      <p:sp>
        <p:nvSpPr>
          <p:cNvPr id="6" name="Shape 4"/>
          <p:cNvSpPr/>
          <p:nvPr/>
        </p:nvSpPr>
        <p:spPr>
          <a:xfrm>
            <a:off x="1912488" y="108854"/>
            <a:ext cx="50241" cy="50241"/>
          </a:xfrm>
          <a:prstGeom prst="rect">
            <a:avLst/>
          </a:prstGeom>
          <a:solidFill>
            <a:srgbClr val="5B4FD1"/>
          </a:solidFill>
          <a:ln/>
        </p:spPr>
      </p:sp>
      <p:sp>
        <p:nvSpPr>
          <p:cNvPr id="7" name="Shape 5"/>
          <p:cNvSpPr/>
          <p:nvPr/>
        </p:nvSpPr>
        <p:spPr>
          <a:xfrm>
            <a:off x="1992873" y="108854"/>
            <a:ext cx="50241" cy="50241"/>
          </a:xfrm>
          <a:prstGeom prst="rect">
            <a:avLst/>
          </a:prstGeom>
          <a:solidFill>
            <a:srgbClr val="D4871E"/>
          </a:solidFill>
          <a:ln/>
        </p:spPr>
      </p:sp>
      <p:sp>
        <p:nvSpPr>
          <p:cNvPr id="8" name="Text 6"/>
          <p:cNvSpPr/>
          <p:nvPr/>
        </p:nvSpPr>
        <p:spPr>
          <a:xfrm>
            <a:off x="393551" y="301443"/>
            <a:ext cx="3349367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✱  BFWAI / HACK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551" y="544272"/>
            <a:ext cx="11396221" cy="0"/>
          </a:xfrm>
          <a:prstGeom prst="line">
            <a:avLst/>
          </a:prstGeom>
          <a:noFill/>
          <a:ln w="9525">
            <a:solidFill>
              <a:srgbClr val="1C1C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551" y="6321930"/>
            <a:ext cx="11396221" cy="0"/>
          </a:xfrm>
          <a:prstGeom prst="line">
            <a:avLst/>
          </a:prstGeom>
          <a:noFill/>
          <a:ln w="9525">
            <a:solidFill>
              <a:srgbClr val="1C1C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1" y="6405664"/>
            <a:ext cx="418670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buildfastwithai.com/hackathon ↗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yash-badgujar-45455134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pranav-jogi-768443378" TargetMode="External"/><Relationship Id="rId4" Type="http://schemas.openxmlformats.org/officeDocument/2006/relationships/hyperlink" Target="https://www.linkedin.com/in/anjali-sonar-14974731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ashbadgujar15.github.io/trendforge-a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NOffOM0B9K8FxIrE-oAswTwjIkxmAIsU/view?usp=sharing" TargetMode="External"/><Relationship Id="rId4" Type="http://schemas.openxmlformats.org/officeDocument/2006/relationships/hyperlink" Target="https://github.com/YashBadgujar15/trendforge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Project Submission · Round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2244076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BUILD CHALLENGE 2026 · FINAL PROJECT DECK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428291"/>
            <a:ext cx="7536075" cy="6280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TrendForge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93551" y="3114911"/>
            <a:ext cx="11396221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4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Autonomous Multi-Modal Content Studio &amp; Viral Reverse-Engineering Engine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393551" y="3726171"/>
            <a:ext cx="3709424" cy="1021557"/>
          </a:xfrm>
          <a:prstGeom prst="roundRect">
            <a:avLst>
              <a:gd name="adj" fmla="val 8951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4236949" y="3726171"/>
            <a:ext cx="3709424" cy="1021557"/>
          </a:xfrm>
          <a:prstGeom prst="roundRect">
            <a:avLst>
              <a:gd name="adj" fmla="val 8951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8080347" y="3726171"/>
            <a:ext cx="3709424" cy="1021557"/>
          </a:xfrm>
          <a:prstGeom prst="roundRect">
            <a:avLst>
              <a:gd name="adj" fmla="val 8951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1019" y="3876892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61019" y="4069481"/>
            <a:ext cx="3349367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AgentX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1019" y="4354177"/>
            <a:ext cx="3349367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PS-02 Finalist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04417" y="3876892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404417" y="4069481"/>
            <a:ext cx="3349367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PS-02 · AI Content Studio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04417" y="4354177"/>
            <a:ext cx="3349367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Brands &amp; Creators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47816" y="3876892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47816" y="4069481"/>
            <a:ext cx="3433101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Badgujar (Lead &amp; Architecture)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 Sonar (AI Pipeline)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Jogi (Frontend &amp; Evals)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Team AgentX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2093354"/>
            <a:ext cx="669873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ENGINEERING TEAM · TRACK PS-02 FINALISTS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244076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</a:t>
            </a:r>
            <a:r>
              <a:rPr lang="en-US" sz="38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AgentX</a:t>
            </a:r>
            <a:endParaRPr lang="en-US" sz="3800" dirty="0"/>
          </a:p>
        </p:txBody>
      </p:sp>
      <p:sp>
        <p:nvSpPr>
          <p:cNvPr id="6" name="Card"/>
          <p:cNvSpPr/>
          <p:nvPr/>
        </p:nvSpPr>
        <p:spPr>
          <a:xfrm>
            <a:off x="368430" y="2897202"/>
            <a:ext cx="3709424" cy="2210582"/>
          </a:xfrm>
          <a:prstGeom prst="roundRect">
            <a:avLst>
              <a:gd name="adj" fmla="val 4136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7766" y="3031177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 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7766" y="3215392"/>
            <a:ext cx="3349367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Badgujar Yash Rameshbhai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77765" y="3541025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77766" y="3750360"/>
            <a:ext cx="3349367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Sarvajanik College of Engineering &amp; Technology, Surat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7766" y="4002493"/>
            <a:ext cx="1256013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068234" y="3985747"/>
            <a:ext cx="185052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766" y="4161588"/>
            <a:ext cx="3340993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7766" y="4253696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19632" y="4476207"/>
            <a:ext cx="334936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 </a:t>
            </a:r>
            <a:r>
              <a:rPr lang="en-US" sz="1100" dirty="0" smtClean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7766" y="4853010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</a:rPr>
              <a:t>LINKDIN :- </a:t>
            </a:r>
            <a:r>
              <a:rPr lang="en-IN" sz="800" b="1" dirty="0">
                <a:hlinkClick r:id="rId3"/>
              </a:rPr>
              <a:t>https://www.linkedin.com/in/yash-badgujar-454551345</a:t>
            </a:r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  <a:hlinkClick r:id="rId3"/>
              </a:rPr>
              <a:t>   </a:t>
            </a:r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dirty="0"/>
          </a:p>
        </p:txBody>
      </p:sp>
      <p:sp>
        <p:nvSpPr>
          <p:cNvPr id="17" name="Card"/>
          <p:cNvSpPr/>
          <p:nvPr/>
        </p:nvSpPr>
        <p:spPr>
          <a:xfrm>
            <a:off x="4228575" y="2897202"/>
            <a:ext cx="3709424" cy="2210582"/>
          </a:xfrm>
          <a:prstGeom prst="roundRect">
            <a:avLst>
              <a:gd name="adj" fmla="val 4136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1164" y="3031177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 02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421164" y="3215392"/>
            <a:ext cx="3349367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 Anjali Shivdas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404418" y="3536963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412790" y="3747910"/>
            <a:ext cx="3349367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Sarvajanik College of Engineering &amp; Technology, Surat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21164" y="4002493"/>
            <a:ext cx="1256013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911632" y="3985747"/>
            <a:ext cx="185052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1164" y="4161588"/>
            <a:ext cx="3340993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21164" y="4253696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421164" y="4470876"/>
            <a:ext cx="334936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&amp; Backend </a:t>
            </a:r>
            <a:r>
              <a:rPr lang="en-US" sz="1100" dirty="0" smtClean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421164" y="4853010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0" dirty="0">
                <a:solidFill>
                  <a:srgbClr val="6B6B73"/>
                </a:solidFill>
                <a:ea typeface="Calibri" pitchFamily="34" charset="-122"/>
                <a:cs typeface="Calibri" pitchFamily="34" charset="-120"/>
              </a:rPr>
              <a:t>LINKDIN </a:t>
            </a:r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</a:rPr>
              <a:t>:- </a:t>
            </a:r>
            <a:r>
              <a:rPr lang="en-IN" sz="800" b="1" dirty="0">
                <a:hlinkClick r:id="rId4"/>
              </a:rPr>
              <a:t>https://www.linkedin.com/in/anjali-sonar-149747314</a:t>
            </a:r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  <a:hlinkClick r:id="rId4"/>
              </a:rPr>
              <a:t>   </a:t>
            </a:r>
            <a:endParaRPr lang="en-US" sz="800" kern="0" spc="100" dirty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dirty="0"/>
          </a:p>
        </p:txBody>
      </p:sp>
      <p:sp>
        <p:nvSpPr>
          <p:cNvPr id="28" name="Card"/>
          <p:cNvSpPr/>
          <p:nvPr/>
        </p:nvSpPr>
        <p:spPr>
          <a:xfrm>
            <a:off x="8080347" y="2897202"/>
            <a:ext cx="3709424" cy="2210582"/>
          </a:xfrm>
          <a:prstGeom prst="roundRect">
            <a:avLst>
              <a:gd name="adj" fmla="val 4136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64563" y="3031177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 03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64563" y="3215392"/>
            <a:ext cx="3349367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Jogi Pranav Bharat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8264563" y="3524430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264563" y="3670397"/>
            <a:ext cx="3349367" cy="28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 Swami Atmanand Saraswati Institute of Technology, Surat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64563" y="4019241"/>
            <a:ext cx="1256013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9755031" y="3985747"/>
            <a:ext cx="185052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64563" y="4161588"/>
            <a:ext cx="3340993" cy="0"/>
          </a:xfrm>
          <a:prstGeom prst="line">
            <a:avLst/>
          </a:prstGeom>
          <a:noFill/>
          <a:ln w="9525">
            <a:solidFill>
              <a:srgbClr val="2A2A3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4563" y="4253696"/>
            <a:ext cx="2512025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8264563" y="4446284"/>
            <a:ext cx="334936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Cloud Deployment &amp; Pitch </a:t>
            </a:r>
            <a:r>
              <a:rPr lang="en-US" sz="1100" dirty="0" smtClean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64563" y="4852666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</a:rPr>
              <a:t>LINKDIN :- </a:t>
            </a:r>
            <a:r>
              <a:rPr lang="en-IN" sz="800" b="1" dirty="0">
                <a:hlinkClick r:id="rId5"/>
              </a:rPr>
              <a:t>https://www.linkedin.com/in/pranav-jogi-768443378</a:t>
            </a:r>
            <a:r>
              <a:rPr lang="en-US" sz="800" kern="0" spc="100" dirty="0" smtClean="0">
                <a:solidFill>
                  <a:srgbClr val="6B6B73"/>
                </a:solidFill>
                <a:ea typeface="Calibri" pitchFamily="34" charset="-122"/>
                <a:cs typeface="Calibri" pitchFamily="34" charset="-120"/>
                <a:hlinkClick r:id="rId5"/>
              </a:rPr>
              <a:t>   </a:t>
            </a:r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kern="0" spc="100" dirty="0" smtClean="0">
              <a:solidFill>
                <a:srgbClr val="6B6B73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Problem &amp; Solution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2177088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AUTONOMOUS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311063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Eliminating the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Bottleneck</a:t>
            </a: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AI Slop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922323"/>
            <a:ext cx="5618563" cy="1172278"/>
          </a:xfrm>
          <a:prstGeom prst="roundRect">
            <a:avLst>
              <a:gd name="adj" fmla="val 780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3579" y="3020302"/>
            <a:ext cx="3349367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$40B BOTTLENECK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1019" y="3232139"/>
            <a:ext cx="527525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Disconnected Tools &amp; Generic AI Slop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5899" y="3547729"/>
            <a:ext cx="5275253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spend 4+ hours daily juggling ChatGPT, Canva, Notion &amp; video editors. Meanwhile, generic LLMs output buzzword soup (</a:t>
            </a: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"delve, tapestry, game-changer"</a:t>
            </a: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that kills engagement.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179582" y="2922323"/>
            <a:ext cx="5610189" cy="1172278"/>
          </a:xfrm>
          <a:prstGeom prst="roundRect">
            <a:avLst>
              <a:gd name="adj" fmla="val 7800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7050" y="3020302"/>
            <a:ext cx="3349367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TRENDFORGE SOLUTION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47050" y="3232139"/>
            <a:ext cx="527525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Brief · 4 Publish-Ready Modalities in &lt;45s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47049" y="3520517"/>
            <a:ext cx="5275253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TrendForge AI transforms one brief or product URL into </a:t>
            </a:r>
            <a:r>
              <a:rPr 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Thought Leadership, 5-Post X Thread, Auto-Rendered Instagram Carousels, and 60 FPS Kinetic Reels</a:t>
            </a: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human approval in the loop.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393551" y="4303936"/>
            <a:ext cx="3709424" cy="703367"/>
          </a:xfrm>
          <a:prstGeom prst="roundRect">
            <a:avLst>
              <a:gd name="adj" fmla="val 1300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5899" y="4387671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35899" y="4555139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URL or 1-Sentence Brief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5899" y="4739354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selection + Custom Brand Kit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4236948" y="4303936"/>
            <a:ext cx="3709424" cy="703367"/>
          </a:xfrm>
          <a:prstGeom prst="roundRect">
            <a:avLst>
              <a:gd name="adj" fmla="val 1300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297" y="4387671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ENGINE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79297" y="4555139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Critic Pipeline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79297" y="4739354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Anti-Slop Sanitizer + 5-point quality rubrics</a:t>
            </a:r>
            <a:endParaRPr lang="en-US" sz="1000" dirty="0"/>
          </a:p>
        </p:txBody>
      </p:sp>
      <p:sp>
        <p:nvSpPr>
          <p:cNvPr id="22" name="Card"/>
          <p:cNvSpPr/>
          <p:nvPr/>
        </p:nvSpPr>
        <p:spPr>
          <a:xfrm>
            <a:off x="8075087" y="4303936"/>
            <a:ext cx="3709424" cy="703367"/>
          </a:xfrm>
          <a:prstGeom prst="roundRect">
            <a:avLst>
              <a:gd name="adj" fmla="val 1300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2696" y="4387671"/>
            <a:ext cx="2512025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2696" y="4555139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Synchronized Modalities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2696" y="4739354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carousel export, audio reel, copy text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283858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Technical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909139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043114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5-Agent Autonomous Pipeline &amp;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Engine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654373"/>
            <a:ext cx="2202209" cy="962944"/>
          </a:xfrm>
          <a:prstGeom prst="roundRect">
            <a:avLst>
              <a:gd name="adj" fmla="val 12698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551" y="2721361"/>
            <a:ext cx="22022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0538" y="2947443"/>
            <a:ext cx="206823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7284" y="3209035"/>
            <a:ext cx="2051487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angles, audience pain &amp; viral hooks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2692054" y="2654373"/>
            <a:ext cx="2214768" cy="962944"/>
          </a:xfrm>
          <a:prstGeom prst="roundRect">
            <a:avLst>
              <a:gd name="adj" fmla="val 12698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2054" y="2721361"/>
            <a:ext cx="22022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59041" y="2947443"/>
            <a:ext cx="206823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Content Writer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05634" y="3194627"/>
            <a:ext cx="203474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 copy &amp; whitespace structure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990557" y="2654373"/>
            <a:ext cx="2231515" cy="962944"/>
          </a:xfrm>
          <a:prstGeom prst="roundRect">
            <a:avLst>
              <a:gd name="adj" fmla="val 12698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90557" y="2721361"/>
            <a:ext cx="22022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57544" y="2947443"/>
            <a:ext cx="206823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 Generator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291" y="3211469"/>
            <a:ext cx="203474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programmatic slide layout &amp; colors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7289061" y="2654373"/>
            <a:ext cx="2185462" cy="962944"/>
          </a:xfrm>
          <a:prstGeom prst="roundRect">
            <a:avLst>
              <a:gd name="adj" fmla="val 12698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9060" y="2721361"/>
            <a:ext cx="22022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56047" y="2947443"/>
            <a:ext cx="206823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Critic Agent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89541" y="3228293"/>
            <a:ext cx="203474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Anti-slop scanner &amp; self-correction loop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9587563" y="2654373"/>
            <a:ext cx="2352391" cy="962944"/>
          </a:xfrm>
          <a:prstGeom prst="roundRect">
            <a:avLst>
              <a:gd name="adj" fmla="val 12698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87563" y="2721361"/>
            <a:ext cx="2202209" cy="20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54550" y="2947443"/>
            <a:ext cx="2068234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Refiner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46388" y="3205815"/>
            <a:ext cx="2034740" cy="23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gating &amp; bundle packaging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265139" y="4029521"/>
            <a:ext cx="5769285" cy="1587729"/>
          </a:xfrm>
          <a:prstGeom prst="roundRect">
            <a:avLst>
              <a:gd name="adj" fmla="val 642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5686" y="4200886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 smtClean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 </a:t>
            </a: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ARCHITECTURE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77285" y="4481685"/>
            <a:ext cx="5317120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Mode: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backend orchestrating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multi-agent reasoning, deep hook generation, and JSON schema guarantees.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Autonomous Fallback: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in-browser heuristic engine powered by curated Hormozi &amp; Justin Welsh viral frameworks (Runs even with zero API keys or network latency).</a:t>
            </a:r>
            <a:endParaRPr lang="en-US" sz="1100" dirty="0"/>
          </a:p>
        </p:txBody>
      </p:sp>
      <p:sp>
        <p:nvSpPr>
          <p:cNvPr id="29" name="Card"/>
          <p:cNvSpPr/>
          <p:nvPr/>
        </p:nvSpPr>
        <p:spPr>
          <a:xfrm>
            <a:off x="6174019" y="4029521"/>
            <a:ext cx="5839504" cy="1587729"/>
          </a:xfrm>
          <a:prstGeom prst="roundRect">
            <a:avLst>
              <a:gd name="adj" fmla="val 642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34971" y="4200886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TECH STACK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254943" y="4431445"/>
            <a:ext cx="5317120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HTML5, Modern CSS Glassmorphism, Vanilla ES6 JavaScript (Zero heavy framework overhead, 60 FPS transitions).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Graphics: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2D Context for instantaneous 1080x1080 slide image generation.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Narration: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Native Web Speech API for zero-latency reel audio narration.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Mandatory Proof 1 · Baseline vs Result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783538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SUBMISSION PROOF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1909139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Result: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Measured Shift</a:t>
            </a:r>
            <a:endParaRPr lang="en-US" sz="3400" dirty="0"/>
          </a:p>
        </p:txBody>
      </p:sp>
      <p:graphicFrame>
        <p:nvGraphicFramePr>
          <p:cNvPr id="6" name="Benchma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551" y="2553892"/>
          <a:ext cx="11396220" cy="1641189"/>
        </p:xfrm>
        <a:graphic>
          <a:graphicData uri="http://schemas.openxmlformats.org/drawingml/2006/table">
            <a:tbl>
              <a:tblPr/>
              <a:tblGrid>
                <a:gridCol w="196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9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BENCHMARK METRIC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TODAY (MANUAL STACK: CHATGPT + CANVA + BUFFER)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TRENDFORGE AI STUDIO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MEASURED IMPROVEMENT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Production Latency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180 – 240 minutes (3 to 4 hours)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38 – 45 seconds total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99.7% Faster (300x Speedup)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43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 Context Switches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4 disconnected tabs &amp; logins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1 Unified In-Browser Workspace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75% Tool Consolidation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Modalities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Text draft only (Manual Canva layout required)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4 Formats (Text + 5 PNGs + 60 FPS Reel)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4x Multi-Modal Output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Robotic Slop Occurrence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68% of drafts contain clichés ("delve", "tapestry")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0% (Enforced by 40+ Anti-Slop Filter)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 Slop-Free Compliance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6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per Campaign Pack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~$35 – $50 (Creator hours + Canva Pro)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&lt; $0.002 (Gemini 2.0 Flash)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99.9% Production Cost Reduction</a:t>
                      </a:r>
                      <a:endParaRPr lang="en-US" sz="11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393551" y="4421164"/>
            <a:ext cx="3709424" cy="669873"/>
          </a:xfrm>
          <a:prstGeom prst="roundRect">
            <a:avLst>
              <a:gd name="adj" fmla="val 1365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5899" y="4504898"/>
            <a:ext cx="334936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sec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35899" y="4839835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brief to 4-platform campaign pack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4236949" y="4421164"/>
            <a:ext cx="3709424" cy="669873"/>
          </a:xfrm>
          <a:prstGeom prst="roundRect">
            <a:avLst>
              <a:gd name="adj" fmla="val 1365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79297" y="4504898"/>
            <a:ext cx="334936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Slop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379297" y="4839835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blacklist scrubs corporate AI fluff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8080347" y="4421164"/>
            <a:ext cx="3709424" cy="669873"/>
          </a:xfrm>
          <a:prstGeom prst="roundRect">
            <a:avLst>
              <a:gd name="adj" fmla="val 1365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2696" y="4504898"/>
            <a:ext cx="334936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Modalities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222696" y="4839835"/>
            <a:ext cx="3433101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X Thread, Instagram Carousel, Video Reel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Mandatory Proof 2 · Eval Set &amp; Scores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641190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SUBMISSION PROOF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1766791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Evaluation Set &amp;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Scores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394797"/>
            <a:ext cx="5618563" cy="2043114"/>
          </a:xfrm>
          <a:prstGeom prst="roundRect">
            <a:avLst>
              <a:gd name="adj" fmla="val 4476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1019" y="2545519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25-BRIEF BENCHMARK SUITE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1019" y="2712987"/>
            <a:ext cx="5317120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developed and executed an automated evaluation suite testing </a:t>
            </a: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real-world product briefs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spanning 4 distinct industry archetypes: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1019" y="3098164"/>
            <a:ext cx="5317120" cy="10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Reviewers, CRM Pipelines, Split Keyboards.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&amp; Hardware: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Hydration Bottles, Ergonomic Chairs, Cold Matcha.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Web3: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Smart Rings, Automated Invoicing.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Creators &amp; Agency: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Branding, Course Launches.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79582" y="2394797"/>
            <a:ext cx="5610189" cy="2043114"/>
          </a:xfrm>
          <a:prstGeom prst="roundRect">
            <a:avLst>
              <a:gd name="adj" fmla="val 4476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7050" y="2545519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EMPIRICAL SCORING RESULTS</a:t>
            </a:r>
            <a:endParaRPr lang="en-US" sz="900" dirty="0"/>
          </a:p>
        </p:txBody>
      </p:sp>
      <p:sp>
        <p:nvSpPr>
          <p:cNvPr id="12" name="Card"/>
          <p:cNvSpPr/>
          <p:nvPr/>
        </p:nvSpPr>
        <p:spPr>
          <a:xfrm>
            <a:off x="6347050" y="2746481"/>
            <a:ext cx="2620880" cy="753608"/>
          </a:xfrm>
          <a:prstGeom prst="roundRect">
            <a:avLst>
              <a:gd name="adj" fmla="val 1213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1025" y="2813468"/>
            <a:ext cx="2428291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81025" y="3181898"/>
            <a:ext cx="2386424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Overall Campaign Quality Score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9001423" y="2746481"/>
            <a:ext cx="2620880" cy="753608"/>
          </a:xfrm>
          <a:prstGeom prst="roundRect">
            <a:avLst>
              <a:gd name="adj" fmla="val 1213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35398" y="2813468"/>
            <a:ext cx="2428291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35398" y="3181898"/>
            <a:ext cx="2386424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Human-Likeness Index (Anti-Slop Passed)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6347050" y="3583822"/>
            <a:ext cx="2620880" cy="753608"/>
          </a:xfrm>
          <a:prstGeom prst="roundRect">
            <a:avLst>
              <a:gd name="adj" fmla="val 1213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1025" y="3650810"/>
            <a:ext cx="2428291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81025" y="4019240"/>
            <a:ext cx="2386424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Length &amp; Character Compliance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9001423" y="3583822"/>
            <a:ext cx="2620880" cy="753608"/>
          </a:xfrm>
          <a:prstGeom prst="roundRect">
            <a:avLst>
              <a:gd name="adj" fmla="val 12134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35398" y="3650810"/>
            <a:ext cx="2428291" cy="31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 / 12s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135398" y="4019240"/>
            <a:ext cx="2386424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Latency (Offline Heuristic / API Mode)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393551" y="4605379"/>
            <a:ext cx="11396221" cy="803848"/>
          </a:xfrm>
          <a:prstGeom prst="roundRect">
            <a:avLst>
              <a:gd name="adj" fmla="val 11375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1019" y="4756101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METRIC BREAKDOWN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1019" y="4940316"/>
            <a:ext cx="11052910" cy="401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Strength (91%):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via first-2-lines character count, curiosity gap rating, and punchiness. · </a:t>
            </a: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Fit (96%):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validation against X 280-char tweet limits, LinkedIn 1-sentence whitespace breaks, and 1:1 Instagram carousel contrast ratios. · </a:t>
            </a: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Slop Risk (0%):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regex scanner checks 40+ banned robotic stems.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Mandatory Proofs 3 &amp; 4 · Approval &amp; Trace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741671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SUBMISSION PROOFS 3 &amp;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1867272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Line &amp;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Trace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495278"/>
            <a:ext cx="5618563" cy="1942633"/>
          </a:xfrm>
          <a:prstGeom prst="roundRect">
            <a:avLst>
              <a:gd name="adj" fmla="val 4707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1019" y="2646000"/>
            <a:ext cx="502405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3: THE HUMAN APPROVAL LINE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1019" y="2830215"/>
            <a:ext cx="5275253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vs. Human Gating Protocol: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1019" y="3031177"/>
            <a:ext cx="5317120" cy="133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Decisions (AI Alone):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feature extraction, viral hook formula selection, character length bounds, SVG coordinate math, and speech timing.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Gated Decisions (Approval Required):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publish authorization, custom copy tone edits, brand color palette overrides, and multi-asset bulk export.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brand reputation. AI automates 95% of tedious production; human retains editorial sovereignty.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79582" y="2495278"/>
            <a:ext cx="5610189" cy="1942633"/>
          </a:xfrm>
          <a:prstGeom prst="roundRect">
            <a:avLst>
              <a:gd name="adj" fmla="val 4707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7050" y="2646000"/>
            <a:ext cx="5275253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4: AUDITABLE FAILURE TRACE &amp; SELF-HEALING</a:t>
            </a:r>
            <a:endParaRPr lang="en-US" sz="900" dirty="0"/>
          </a:p>
        </p:txBody>
      </p:sp>
      <p:sp>
        <p:nvSpPr>
          <p:cNvPr id="12" name="Terminal"/>
          <p:cNvSpPr/>
          <p:nvPr/>
        </p:nvSpPr>
        <p:spPr>
          <a:xfrm>
            <a:off x="6347050" y="2830215"/>
            <a:ext cx="5275253" cy="1507215"/>
          </a:xfrm>
          <a:prstGeom prst="roundRect">
            <a:avLst>
              <a:gd name="adj" fmla="val 3033"/>
            </a:avLst>
          </a:prstGeom>
          <a:solidFill>
            <a:srgbClr val="000000"/>
          </a:solidFill>
          <a:ln w="6350">
            <a:solidFill>
              <a:srgbClr val="1C1C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278" y="2913949"/>
            <a:ext cx="5057544" cy="135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5AA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1 - DRAFT] 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ContentWriter outputs: </a:t>
            </a:r>
            <a:r>
              <a:rPr lang="en-US" sz="900" i="1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the fast-paced tapestry of modern engineering, leaders must delve into..."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F2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2 - FAIL] 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CriticAgent triggered: FAIL_CRITIC_SLOP (Found: "tapestry", "delve". Quality: 62% &lt; 85%)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3 - REROUTE] 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 forces rewrite with penalty prompt: </a:t>
            </a:r>
            <a:r>
              <a:rPr lang="en-US" sz="900" i="1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"Scrub buzzwords; make punchy and conversational"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4 - HEALED] 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Refiner outputs: </a:t>
            </a:r>
            <a:r>
              <a:rPr lang="en-US" sz="900" i="1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 teams waste 20 hours a week on manual busywork. Here is how to fix it."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(Quality: 94% → PASS)</a:t>
            </a:r>
            <a:endParaRPr lang="en-US" sz="900" dirty="0"/>
          </a:p>
        </p:txBody>
      </p:sp>
      <p:sp>
        <p:nvSpPr>
          <p:cNvPr id="14" name="Card"/>
          <p:cNvSpPr/>
          <p:nvPr/>
        </p:nvSpPr>
        <p:spPr>
          <a:xfrm>
            <a:off x="393551" y="4605379"/>
            <a:ext cx="11396221" cy="787101"/>
          </a:xfrm>
          <a:prstGeom prst="roundRect">
            <a:avLst>
              <a:gd name="adj" fmla="val 11617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1019" y="4756101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RESILIENCE &amp; RECOVERY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1019" y="4957063"/>
            <a:ext cx="11052910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generated records an internal execution log accessible in the </a:t>
            </a: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Trace tab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an API call fails or times out, the engine gracefully activates the </a:t>
            </a:r>
            <a:r>
              <a:rPr lang="en-US" sz="11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Heuristic Fallback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150ms, guaranteeing zero broken screens or dropped generations.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Proof 5 &amp; Tool Disclosure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2076607"/>
            <a:ext cx="669873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MANDATORY SUBMISSION PROOF 5 &amp; DISCLOSURE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202209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Paragraph &amp;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 Disclosure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821842"/>
            <a:ext cx="11396221" cy="1122038"/>
          </a:xfrm>
          <a:prstGeom prst="roundRect">
            <a:avLst>
              <a:gd name="adj" fmla="val 8149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1019" y="2972563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5: CONTEXT PARAGRAPH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1019" y="3181898"/>
            <a:ext cx="11052910" cy="70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TrendForge AI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built for solo founders, startup growth leads, and digital marketing operators who face a daily 4-hour content production grind across LinkedIn, X, and Instagram. The underlying data stems from curated, publicly established viral copywriting frameworks (Hormozi value equations, Justin Welsh hook structures) and user-supplied brand assets. It covers 100% of the PS-02 objective by transforming raw product ideas into four publish-ready modalities (text, visual image carousels, and 60 FPS video storyboards) in under 45 seconds while guaranteeing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PII exposure and zero training on user private data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393551" y="4197907"/>
            <a:ext cx="11396221" cy="1230893"/>
          </a:xfrm>
          <a:prstGeom prst="roundRect">
            <a:avLst>
              <a:gd name="adj" fmla="val 9750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1019" y="4262069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AI TOOLS &amp; API DISCLOSURE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1953" y="4521645"/>
            <a:ext cx="351683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0778" y="4800676"/>
            <a:ext cx="3516835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Flash: </a:t>
            </a: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reasoning, fast JSON schema extraction &amp; tone formatting.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27444" y="4446284"/>
            <a:ext cx="351683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Synthesis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87189" y="4696376"/>
            <a:ext cx="3516835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API: </a:t>
            </a: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dynamic 1080x1080 slide rendering.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API: </a:t>
            </a: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in-browser voiceover speech synthesis.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97094" y="4446284"/>
            <a:ext cx="3516835" cy="15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Scaffold Tools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13360" y="4736529"/>
            <a:ext cx="3516835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Cursor: </a:t>
            </a: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 &amp; CSS design assistance.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</a:t>
            </a: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eval test suite runner.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Working System &amp; Visual Showcase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657937"/>
            <a:ext cx="6698734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SYSTEM SHOWCASE · PRODUCTION UI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1783538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Pillars of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TrendForge AI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369677"/>
            <a:ext cx="3709424" cy="2386424"/>
          </a:xfrm>
          <a:prstGeom prst="roundRect">
            <a:avLst>
              <a:gd name="adj" fmla="val 3832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9152" y="2503652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01 &amp; 02 · CAROUSEL ENGINE</a:t>
            </a:r>
            <a:endParaRPr lang="en-US" sz="900" dirty="0"/>
          </a:p>
        </p:txBody>
      </p:sp>
      <p:pic>
        <p:nvPicPr>
          <p:cNvPr id="8" name="UI screenshot" descr="/home/claude/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52" y="2702710"/>
            <a:ext cx="3546297" cy="13366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19152" y="4102974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Canvas Carousel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9152" y="4373693"/>
            <a:ext cx="3458221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HTML5 Canvas 2D engine. Slides 1–5 live rendering with 1-click high-res PNG export.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4236949" y="2369677"/>
            <a:ext cx="3709424" cy="2386424"/>
          </a:xfrm>
          <a:prstGeom prst="roundRect">
            <a:avLst>
              <a:gd name="adj" fmla="val 3832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62550" y="2503652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03 · HYPERFRAMES™ REEL</a:t>
            </a:r>
            <a:endParaRPr lang="en-US" sz="900" dirty="0"/>
          </a:p>
        </p:txBody>
      </p:sp>
      <p:pic>
        <p:nvPicPr>
          <p:cNvPr id="13" name="UI screenshot" descr="/home/claude/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550" y="2696240"/>
            <a:ext cx="3546297" cy="133668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62550" y="4102974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Video Keyframes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362550" y="4373693"/>
            <a:ext cx="3458221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Scene-by-scene storyboard with director visual cues and browser Web Speech audio preview.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8080347" y="2369677"/>
            <a:ext cx="3709424" cy="2386424"/>
          </a:xfrm>
          <a:prstGeom prst="roundRect">
            <a:avLst>
              <a:gd name="adj" fmla="val 3832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05949" y="2503652"/>
            <a:ext cx="3433101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04 · CRITIC AUDIT</a:t>
            </a:r>
            <a:endParaRPr lang="en-US" sz="900" dirty="0"/>
          </a:p>
        </p:txBody>
      </p:sp>
      <p:pic>
        <p:nvPicPr>
          <p:cNvPr id="18" name="UI screenshot" descr="/home/claude/sho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949" y="2696240"/>
            <a:ext cx="3458221" cy="13034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05949" y="4102974"/>
            <a:ext cx="343310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Anti-Slop Quality Engine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05949" y="4387671"/>
            <a:ext cx="3458221" cy="368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5-point quality rubrics (94% score) scanning 40+ buzzwords with human-in-the-loop approval.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393551" y="4985248"/>
            <a:ext cx="11396221" cy="552646"/>
          </a:xfrm>
          <a:prstGeom prst="roundRect">
            <a:avLst>
              <a:gd name="adj" fmla="val 16546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61019" y="5067450"/>
            <a:ext cx="5024050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05 · INTEGRATED WORKSPACE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561019" y="5283626"/>
            <a:ext cx="8792088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campaigns vault with persistent LocalStorage, synchronized brand kits, real-time credit metering, and 1-click campaign package export (.TXT bundle).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9210759" y="5116158"/>
            <a:ext cx="2428291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100% LIVE IN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61392" y="301443"/>
            <a:ext cx="592837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Conclusion &amp; Submission Links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115088" y="6405664"/>
            <a:ext cx="167468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93551" y="1892392"/>
            <a:ext cx="5861392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 &amp; NEXT HORIZONS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93551" y="2017994"/>
            <a:ext cx="11396221" cy="502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Fast. </a:t>
            </a:r>
            <a:r>
              <a:rPr lang="en-US" sz="34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Strong.</a:t>
            </a: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What's Next.</a:t>
            </a:r>
            <a:endParaRPr lang="en-US" sz="3400" dirty="0"/>
          </a:p>
        </p:txBody>
      </p:sp>
      <p:sp>
        <p:nvSpPr>
          <p:cNvPr id="6" name="Card"/>
          <p:cNvSpPr/>
          <p:nvPr/>
        </p:nvSpPr>
        <p:spPr>
          <a:xfrm>
            <a:off x="393551" y="2654373"/>
            <a:ext cx="5618563" cy="1925886"/>
          </a:xfrm>
          <a:prstGeom prst="roundRect">
            <a:avLst>
              <a:gd name="adj" fmla="val 4748"/>
            </a:avLst>
          </a:prstGeom>
          <a:solidFill>
            <a:srgbClr val="131316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1019" y="2805095"/>
            <a:ext cx="3349367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PROVED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1019" y="2980936"/>
            <a:ext cx="5317120" cy="51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proved that autonomous multi-agent pipelines can eliminate 99.7% of multi-modal marketing production time while </a:t>
            </a:r>
            <a:r>
              <a:rPr lang="en-US" sz="11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human engagement</a:t>
            </a: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automated anti-slop curation. AI doesn't have to sound robotic.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1019" y="3684303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HORIZONS (Q4 2026)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1019" y="3885266"/>
            <a:ext cx="5317120" cy="63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Social Dispatch: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auto-publish to LinkedIn API &amp; X API v2.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Voice LoRAs: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creator voice adaptation from 10 past posts.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A/B Testing: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 feedback loops.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179582" y="2654373"/>
            <a:ext cx="5610189" cy="1925886"/>
          </a:xfrm>
          <a:prstGeom prst="roundRect">
            <a:avLst>
              <a:gd name="adj" fmla="val 4748"/>
            </a:avLst>
          </a:prstGeom>
          <a:solidFill>
            <a:srgbClr val="17140E"/>
          </a:solidFill>
          <a:ln w="9525">
            <a:solidFill>
              <a:srgbClr val="6B4E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7050" y="2830215"/>
            <a:ext cx="4186709" cy="13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 &amp; EVALUATION ACCESS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347050" y="3064671"/>
            <a:ext cx="3349367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STUDIO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47050" y="3215392"/>
            <a:ext cx="527525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hlinkClick r:id="rId3"/>
              </a:rPr>
              <a:t>https://yashbadgujar15.github.io/trendforge-ai/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47050" y="3550329"/>
            <a:ext cx="3349367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347050" y="3701050"/>
            <a:ext cx="527525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hlinkClick r:id="rId4"/>
              </a:rPr>
              <a:t>https://github.com/YashBadgujar15/trendforge-ai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47050" y="4010868"/>
            <a:ext cx="3349367" cy="11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DEMO VIDEO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47050" y="4151016"/>
            <a:ext cx="5275253" cy="184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hlinkClick r:id="rId5"/>
              </a:rPr>
              <a:t>https://drive.google.com/file/d/1NOffOM0B9K8FxIrE-oAswTwjIkxmAIsU/view?usp=sharing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1471" y="5543201"/>
            <a:ext cx="11396221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to Satvik Paramkusham &amp; Build Fast with AI!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endForge Dark">
  <a:themeElements>
    <a:clrScheme name="TrendForge Dark">
      <a:dk1>
        <a:srgbClr val="0A0A0C"/>
      </a:dk1>
      <a:lt1>
        <a:srgbClr val="FFFFFF"/>
      </a:lt1>
      <a:dk2>
        <a:srgbClr val="131316"/>
      </a:dk2>
      <a:lt2>
        <a:srgbClr val="9A9AA3"/>
      </a:lt2>
      <a:accent1>
        <a:srgbClr val="F59E0B"/>
      </a:accent1>
      <a:accent2>
        <a:srgbClr val="38BDF8"/>
      </a:accent2>
      <a:accent3>
        <a:srgbClr val="10B981"/>
      </a:accent3>
      <a:accent4>
        <a:srgbClr val="EF4444"/>
      </a:accent4>
      <a:accent5>
        <a:srgbClr val="6366F1"/>
      </a:accent5>
      <a:accent6>
        <a:srgbClr val="EC4899"/>
      </a:accent6>
      <a:hlink>
        <a:srgbClr val="38BDF8"/>
      </a:hlink>
      <a:folHlink>
        <a:srgbClr val="38BDF8"/>
      </a:folHlink>
    </a:clrScheme>
    <a:fontScheme name="TrendForge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1637</Words>
  <Application>Microsoft Office PowerPoint</Application>
  <PresentationFormat>Widescreen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Segoe UI Emoji</vt:lpstr>
      <vt:lpstr>TrendForge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TrendForge AI - Final Project Deck</dc:title>
  <dc:subject>PptxGenJS Presentation</dc:subject>
  <dc:creator>Team AgentX</dc:creator>
  <cp:lastModifiedBy>ABCD</cp:lastModifiedBy>
  <cp:revision>6</cp:revision>
  <dcterms:created xsi:type="dcterms:W3CDTF">2026-10-02T12:53:35Z</dcterms:created>
  <dcterms:modified xsi:type="dcterms:W3CDTF">2026-10-02T17:58:55Z</dcterms:modified>
</cp:coreProperties>
</file>