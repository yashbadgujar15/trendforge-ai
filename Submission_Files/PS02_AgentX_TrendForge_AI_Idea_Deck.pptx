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embeddedFontLst>
    <p:embeddedFont>
      <p:font typeface="Instrument Serif" panose="020B0604020202020204" charset="0"/>
      <p:regular r:id="rId11"/>
      <p:italic r:id="rId12"/>
    </p:embeddedFont>
    <p:embeddedFont>
      <p:font typeface="Space Grotesk" panose="020B0604020202020204" charset="0"/>
      <p:regular r:id="rId13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JetBrains Mon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pranav-jogi-768443378" TargetMode="External"/><Relationship Id="rId5" Type="http://schemas.openxmlformats.org/officeDocument/2006/relationships/hyperlink" Target="https://www.linkedin.com/in/anjali-sonar-149747314" TargetMode="External"/><Relationship Id="rId4" Type="http://schemas.openxmlformats.org/officeDocument/2006/relationships/hyperlink" Target="https://www.linkedin.com/in/yash-badgujar-45455134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nkd.in/p/dZv7yfS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h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Idea submission</a:t>
            </a:r>
            <a:endParaRPr/>
          </a:p>
        </p:txBody>
      </p:sp>
      <p:cxnSp>
        <p:nvCxnSpPr>
          <p:cNvPr id="87" name="Google Shape;87;p13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88" name="Google Shape;88;p13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54793" y="6426039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</a:t>
            </a: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711182" y="1904952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BUILD CHALLENGE 2026 · IDEA DECK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11182" y="2222444"/>
            <a:ext cx="952476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dirty="0" err="1" smtClean="0">
                <a:solidFill>
                  <a:srgbClr val="F4EFE6"/>
                </a:solidFill>
                <a:latin typeface="Instrument Serif"/>
                <a:sym typeface="Instrument Serif"/>
              </a:rPr>
              <a:t>TrendForge</a:t>
            </a:r>
            <a:r>
              <a:rPr lang="en-US" sz="9600" dirty="0" smtClean="0">
                <a:solidFill>
                  <a:srgbClr val="F4EFE6"/>
                </a:solidFill>
                <a:latin typeface="Instrument Serif"/>
                <a:sym typeface="Instrument Serif"/>
              </a:rPr>
              <a:t> AI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711182" y="3555911"/>
            <a:ext cx="8889777" cy="10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2000" i="1">
                <a:solidFill>
                  <a:srgbClr val="E5A93C"/>
                </a:solidFill>
                <a:latin typeface="Georgia"/>
              </a:defRPr>
            </a:pPr>
            <a:r>
              <a:rPr lang="en-IN" sz="3400" dirty="0">
                <a:latin typeface="Instrument Serif" panose="020B0604020202020204" charset="0"/>
              </a:rPr>
              <a:t>The Autonomous Multi-Modal Content Studio </a:t>
            </a:r>
            <a:r>
              <a:rPr lang="en-IN" sz="3400" dirty="0" smtClean="0">
                <a:latin typeface="Instrument Serif" panose="020B0604020202020204" charset="0"/>
              </a:rPr>
              <a:t>&amp; </a:t>
            </a:r>
            <a:r>
              <a:rPr lang="en-IN" sz="3400" dirty="0">
                <a:latin typeface="Instrument Serif" panose="020B0604020202020204" charset="0"/>
              </a:rPr>
              <a:t>Viral Reverse-Engineering Engine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711182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1182" y="5270368"/>
            <a:ext cx="34289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AgentX</a:t>
            </a:r>
            <a:endParaRPr dirty="0"/>
          </a:p>
        </p:txBody>
      </p:sp>
      <p:sp>
        <p:nvSpPr>
          <p:cNvPr id="95" name="Google Shape;95;p13"/>
          <p:cNvSpPr txBox="1"/>
          <p:nvPr/>
        </p:nvSpPr>
        <p:spPr>
          <a:xfrm>
            <a:off x="433059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330591" y="5270368"/>
            <a:ext cx="34289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700" b="1" i="0" u="none" strike="noStrike" cap="none" dirty="0" smtClean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PS-02 </a:t>
            </a:r>
            <a:r>
              <a:rPr lang="en-US" sz="1700" b="1" i="0" u="none" strike="noStrike" cap="none" dirty="0" smtClean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· </a:t>
            </a:r>
            <a:r>
              <a:rPr lang="it-IT" sz="1700" b="1" dirty="0" smtClean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</a:t>
            </a:r>
            <a:r>
              <a:rPr lang="it-IT" sz="1700" b="1" dirty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Content Studio for Brands &amp; Creators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7950001" y="5016374"/>
            <a:ext cx="330191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MEMBERS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950001" y="5270368"/>
            <a:ext cx="3428914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Yash</a:t>
            </a:r>
            <a:r>
              <a:rPr lang="en-US" sz="1700" b="1" dirty="0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 </a:t>
            </a:r>
            <a:r>
              <a:rPr lang="en-US" sz="1700" b="1" dirty="0" err="1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Badgujar</a:t>
            </a:r>
            <a:r>
              <a:rPr lang="en-US" sz="1700" b="1" dirty="0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 (Team Lead) 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Anjali Sonar 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Pranav </a:t>
            </a:r>
            <a:r>
              <a:rPr lang="en-US" sz="1700" b="1" dirty="0" err="1" smtClean="0">
                <a:solidFill>
                  <a:srgbClr val="F4EFE6"/>
                </a:solidFill>
                <a:latin typeface="Space Grotesk"/>
                <a:cs typeface="Space Grotesk"/>
                <a:sym typeface="Space Grotesk"/>
              </a:rPr>
              <a:t>Jogi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6" descr="corn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02 · The problem</a:t>
            </a:r>
            <a:endParaRPr/>
          </a:p>
        </p:txBody>
      </p:sp>
      <p:cxnSp>
        <p:nvCxnSpPr>
          <p:cNvPr id="171" name="Google Shape;171;p16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72" name="Google Shape;172;p16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254793" y="6426039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</a:t>
            </a:r>
            <a:r>
              <a:rPr lang="en-US" sz="90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174" name="Google Shape;174;p16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PROBLEM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problem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solving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PROBLEM STATEMENT</a:t>
            </a:r>
            <a:endParaRPr dirty="0"/>
          </a:p>
        </p:txBody>
      </p:sp>
      <p:sp>
        <p:nvSpPr>
          <p:cNvPr id="178" name="Google Shape;178;p16"/>
          <p:cNvSpPr txBox="1"/>
          <p:nvPr/>
        </p:nvSpPr>
        <p:spPr>
          <a:xfrm>
            <a:off x="914377" y="2945655"/>
            <a:ext cx="4851278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300" b="1" dirty="0" smtClean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PS-02 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· AI Content Studio for Brands &amp; </a:t>
            </a:r>
            <a:r>
              <a:rPr lang="en-US" sz="1300" b="1" dirty="0" smtClean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Creators</a:t>
            </a:r>
          </a:p>
          <a:p>
            <a:pPr lvl="0"/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/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The manual bottleneck and 'generic AI slop' trap that makes automated multi-channel brand marketing look artificial, boring, and perform </a:t>
            </a:r>
            <a:r>
              <a:rPr lang="en-US" sz="1300" b="1" dirty="0" smtClean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poorly.</a:t>
            </a:r>
            <a:endParaRPr sz="1300" b="1" dirty="0">
              <a:solidFill>
                <a:schemeClr val="bg1">
                  <a:lumMod val="50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WHO FACES IT</a:t>
            </a:r>
            <a:endParaRPr dirty="0"/>
          </a:p>
        </p:txBody>
      </p:sp>
      <p:sp>
        <p:nvSpPr>
          <p:cNvPr id="181" name="Google Shape;181;p16"/>
          <p:cNvSpPr txBox="1"/>
          <p:nvPr/>
        </p:nvSpPr>
        <p:spPr>
          <a:xfrm>
            <a:off x="6476838" y="2965763"/>
            <a:ext cx="4800479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Solo founders, startup growth marketers, and digital agency creators who must post consistently on LinkedIn, X, and Instagram but lack full design and editing bandwidth</a:t>
            </a:r>
            <a:r>
              <a:rPr lang="en-US" sz="1300" b="1" dirty="0" smtClean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.</a:t>
            </a:r>
            <a:endParaRPr lang="en-US" sz="1300" b="1" dirty="0">
              <a:solidFill>
                <a:schemeClr val="bg1">
                  <a:lumMod val="50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711182" y="4381390"/>
            <a:ext cx="10769330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914377" y="4559186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IT COSTS THEM TODAY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914377" y="4825879"/>
            <a:ext cx="10362940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3.5 to 5 hours spent daily copywriting, manually designing multi-slide carousels in </a:t>
            </a:r>
            <a:r>
              <a:rPr lang="en-US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Canva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, and scripting reels across 4 separate tools.</a:t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Standard LLMs generate repetitive, robotic 'AI slop' that audiences scroll past.</a:t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Bandwidth exhaustion leads to creator burnout, missed schedules, and lost conversions.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 descr="to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03 · Solution overview</a:t>
            </a:r>
            <a:endParaRPr/>
          </a:p>
        </p:txBody>
      </p:sp>
      <p:cxnSp>
        <p:nvCxnSpPr>
          <p:cNvPr id="192" name="Google Shape;192;p17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93" name="Google Shape;193;p17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254793" y="6426039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</a:t>
            </a:r>
            <a:r>
              <a:rPr lang="en-US" sz="90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195" name="Google Shape;195;p17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SOLUTION OVERVIEW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we're building</a:t>
            </a:r>
            <a:endParaRPr/>
          </a:p>
        </p:txBody>
      </p:sp>
      <p:sp>
        <p:nvSpPr>
          <p:cNvPr id="197" name="Google Shape;197;p17"/>
          <p:cNvSpPr/>
          <p:nvPr/>
        </p:nvSpPr>
        <p:spPr>
          <a:xfrm>
            <a:off x="711182" y="2539936"/>
            <a:ext cx="10769330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914377" y="2717732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TWO OR THREE LINES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914377" y="2984425"/>
            <a:ext cx="1036294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Georgia"/>
              </a:defRPr>
            </a:pPr>
            <a:r>
              <a:rPr lang="en-US" sz="1300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TrendForge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AI is an autonomous multi-modal marketing studio that turns a single product URL or brief into publish-ready LinkedIn thought leadership, viral X threads, and auto-rendered Instagram carousels in under 60 seconds with zero generic AI slop.</a:t>
            </a:r>
            <a:endParaRPr lang="en-US" sz="1300" dirty="0">
              <a:solidFill>
                <a:schemeClr val="bg1">
                  <a:lumMod val="50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 USER DOES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14377" y="4825879"/>
            <a:ext cx="4800479" cy="1019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Inputs product URL, brief, or competitor's viral post link.</a:t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Selects target brand persona and tone.</a:t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Uploads brand kit assets (colors, typography, logo).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17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WHAT THEY GET BACK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6476838" y="4825879"/>
            <a:ext cx="4800479" cy="1269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LinkedIn post with hook &amp; whitespace optimization.</a:t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High-retention X thread structured for </a:t>
            </a:r>
            <a:r>
              <a:rPr lang="en-US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virality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.</a:t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5-slide </a:t>
            </a:r>
            <a:r>
              <a:rPr lang="en-US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Canva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-grade visual Carousel (PNGs).</a:t>
            </a:r>
            <a:b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30s kinetic video script with audio narration preview.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8" descr="lef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04 · Technical approach</a:t>
            </a:r>
            <a:endParaRPr/>
          </a:p>
        </p:txBody>
      </p:sp>
      <p:cxnSp>
        <p:nvCxnSpPr>
          <p:cNvPr id="213" name="Google Shape;213;p18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14" name="Google Shape;214;p18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254793" y="6426039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</a:t>
            </a:r>
            <a:r>
              <a:rPr lang="en-US" sz="90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216" name="Google Shape;216;p18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TECHNICAL APPROACH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it works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711182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914377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MODELS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914377" y="2984425"/>
            <a:ext cx="4800479" cy="86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Gemini 2.0 Flash / </a:t>
            </a:r>
            <a:r>
              <a:rPr lang="en-IN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OpenAI</a:t>
            </a:r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GPT-4o-mini for rapid multi-agent hook extraction, tone adaptation, and Whisper/</a:t>
            </a:r>
            <a:r>
              <a:rPr lang="en-IN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WebSpeech</a:t>
            </a:r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voice preview.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8"/>
          <p:cNvSpPr/>
          <p:nvPr/>
        </p:nvSpPr>
        <p:spPr>
          <a:xfrm>
            <a:off x="6273643" y="2539936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476838" y="2717732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 &amp; FRAMEWORKS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476838" y="2975094"/>
            <a:ext cx="4800479" cy="86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React / </a:t>
            </a:r>
            <a:r>
              <a:rPr lang="en-IN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Vite</a:t>
            </a:r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+ Tailwind CSS frontend studio. </a:t>
            </a:r>
            <a:r>
              <a:rPr lang="en-IN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FastAPI</a:t>
            </a:r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/ Node backend. HTML5 Canvas / Satori for programmatic SVG/PNG carousel slide rendering.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4" name="Google Shape;224;p18"/>
          <p:cNvSpPr/>
          <p:nvPr/>
        </p:nvSpPr>
        <p:spPr>
          <a:xfrm>
            <a:off x="711182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914377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14377" y="4825879"/>
            <a:ext cx="4800479" cy="86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Curated viral copy frameworks (</a:t>
            </a:r>
            <a:r>
              <a:rPr lang="en-IN" sz="1300" b="1" dirty="0" err="1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Hormozi</a:t>
            </a:r>
            <a:r>
              <a:rPr lang="en-IN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, Justin Welsh hooks), public company datasets, and user brand kits. Strictly zero PII.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7" name="Google Shape;227;p18"/>
          <p:cNvSpPr/>
          <p:nvPr/>
        </p:nvSpPr>
        <p:spPr>
          <a:xfrm>
            <a:off x="6273643" y="4381390"/>
            <a:ext cx="5206869" cy="158746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476838" y="4559186"/>
            <a:ext cx="48004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HUMAN APPROVAL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6476838" y="4825879"/>
            <a:ext cx="4800479" cy="869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00" b="1" dirty="0">
                <a:solidFill>
                  <a:schemeClr val="bg1">
                    <a:lumMod val="50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Interactive Studio Canvas: user reviews, live-edits copy or tweaks carousel color palettes before final 1-click multi-asset export.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9" descr="corn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05 · Key features</a:t>
            </a:r>
            <a:endParaRPr/>
          </a:p>
        </p:txBody>
      </p:sp>
      <p:cxnSp>
        <p:nvCxnSpPr>
          <p:cNvPr id="237" name="Google Shape;237;p19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19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254793" y="6426039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</a:t>
            </a:r>
            <a:r>
              <a:rPr lang="en-US" sz="90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240" name="Google Shape;240;p19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 FEATURES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it will do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by 1 Oct</a:t>
            </a:r>
            <a:endParaRPr/>
          </a:p>
        </p:txBody>
      </p:sp>
      <p:cxnSp>
        <p:nvCxnSpPr>
          <p:cNvPr id="242" name="Google Shape;242;p19"/>
          <p:cNvCxnSpPr/>
          <p:nvPr/>
        </p:nvCxnSpPr>
        <p:spPr>
          <a:xfrm>
            <a:off x="711182" y="2539936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43" name="Google Shape;243;p19"/>
          <p:cNvSpPr txBox="1"/>
          <p:nvPr/>
        </p:nvSpPr>
        <p:spPr>
          <a:xfrm>
            <a:off x="711182" y="267963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01</a:t>
            </a:r>
            <a:endParaRPr/>
          </a:p>
        </p:txBody>
      </p:sp>
      <p:sp>
        <p:nvSpPr>
          <p:cNvPr id="244" name="Google Shape;244;p19"/>
          <p:cNvSpPr txBox="1"/>
          <p:nvPr/>
        </p:nvSpPr>
        <p:spPr>
          <a:xfrm>
            <a:off x="1460463" y="2705032"/>
            <a:ext cx="355591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dirty="0" smtClean="0">
                <a:solidFill>
                  <a:schemeClr val="bg1"/>
                </a:solidFill>
                <a:latin typeface="Space Grotesk" panose="020B0604020202020204" charset="0"/>
                <a:cs typeface="Space Grotesk" panose="020B0604020202020204" charset="0"/>
              </a:rPr>
              <a:t>Click </a:t>
            </a:r>
            <a:r>
              <a:rPr lang="en-IN" sz="1600" b="1" dirty="0">
                <a:solidFill>
                  <a:schemeClr val="bg1"/>
                </a:solidFill>
                <a:latin typeface="Space Grotesk" panose="020B0604020202020204" charset="0"/>
                <a:cs typeface="Space Grotesk" panose="020B0604020202020204" charset="0"/>
              </a:rPr>
              <a:t>Multi-Channel Repurposing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>
                  <a:lumMod val="50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5206869" y="2701754"/>
            <a:ext cx="627364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0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Converts 1 URL/brief into LinkedIn, X thread, and Instagram formats simultaneously.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bg1"/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cxnSp>
        <p:nvCxnSpPr>
          <p:cNvPr id="246" name="Google Shape;246;p19"/>
          <p:cNvCxnSpPr/>
          <p:nvPr/>
        </p:nvCxnSpPr>
        <p:spPr>
          <a:xfrm>
            <a:off x="711182" y="3238419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47" name="Google Shape;247;p19"/>
          <p:cNvSpPr txBox="1"/>
          <p:nvPr/>
        </p:nvSpPr>
        <p:spPr>
          <a:xfrm>
            <a:off x="711182" y="3378115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02</a:t>
            </a:r>
            <a:endParaRPr/>
          </a:p>
        </p:txBody>
      </p:sp>
      <p:sp>
        <p:nvSpPr>
          <p:cNvPr id="248" name="Google Shape;248;p19"/>
          <p:cNvSpPr txBox="1"/>
          <p:nvPr/>
        </p:nvSpPr>
        <p:spPr>
          <a:xfrm>
            <a:off x="1460463" y="3403514"/>
            <a:ext cx="355591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Space Grotesk" panose="020B0604020202020204" charset="0"/>
                <a:cs typeface="Space Grotesk" panose="020B0604020202020204" charset="0"/>
              </a:rPr>
              <a:t>Dynamic Code-Rendered Carousels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bg1"/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5206869" y="3428914"/>
            <a:ext cx="627364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0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Programmatically designs and renders 5-slide visual image decks with brand styling.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cxnSp>
        <p:nvCxnSpPr>
          <p:cNvPr id="250" name="Google Shape;250;p19"/>
          <p:cNvCxnSpPr/>
          <p:nvPr/>
        </p:nvCxnSpPr>
        <p:spPr>
          <a:xfrm>
            <a:off x="711182" y="3936901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51" name="Google Shape;251;p19"/>
          <p:cNvSpPr txBox="1"/>
          <p:nvPr/>
        </p:nvSpPr>
        <p:spPr>
          <a:xfrm>
            <a:off x="711182" y="4076598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03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1460463" y="4101997"/>
            <a:ext cx="355591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it-IT" sz="1600" b="1" dirty="0">
                <a:solidFill>
                  <a:schemeClr val="bg1"/>
                </a:solidFill>
                <a:latin typeface="Space Grotesk" panose="020B0604020202020204" charset="0"/>
                <a:cs typeface="Space Grotesk" panose="020B0604020202020204" charset="0"/>
              </a:rPr>
              <a:t>Anti-AI Slop &amp; Hook Virality Scorer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bg1"/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5206869" y="4127396"/>
            <a:ext cx="6273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1200">
                <a:solidFill>
                  <a:srgbClr val="B4B9C3"/>
                </a:solidFill>
                <a:latin typeface="Segoe UI"/>
              </a:defRPr>
            </a:pPr>
            <a:r>
              <a:rPr lang="en-US" sz="130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Scrubs generic robotic </a:t>
            </a:r>
            <a:r>
              <a:rPr lang="en-US" sz="1300" dirty="0" err="1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cliches</a:t>
            </a:r>
            <a:r>
              <a:rPr lang="en-US" sz="130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('delve', 'elevate') and scores human engagement potential.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cxnSp>
        <p:nvCxnSpPr>
          <p:cNvPr id="254" name="Google Shape;254;p19"/>
          <p:cNvCxnSpPr/>
          <p:nvPr/>
        </p:nvCxnSpPr>
        <p:spPr>
          <a:xfrm>
            <a:off x="711182" y="4635384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19"/>
          <p:cNvSpPr txBox="1"/>
          <p:nvPr/>
        </p:nvSpPr>
        <p:spPr>
          <a:xfrm>
            <a:off x="711182" y="4775080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04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1460463" y="4800479"/>
            <a:ext cx="355591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Space Grotesk" panose="020B0604020202020204" charset="0"/>
                <a:cs typeface="Space Grotesk" panose="020B0604020202020204" charset="0"/>
              </a:rPr>
              <a:t>Kinetic Video &amp; Reels Storyboard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bg1"/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5206869" y="4825879"/>
            <a:ext cx="627364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1200">
                <a:solidFill>
                  <a:srgbClr val="B4B9C3"/>
                </a:solidFill>
                <a:latin typeface="Segoe UI"/>
              </a:defRPr>
            </a:pPr>
            <a:r>
              <a:rPr lang="en-US" sz="130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30s Hook-Body-CTA reel script with on-screen kinetic text and audio voice preview.</a:t>
            </a:r>
            <a:endParaRPr lang="en-US" sz="130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cxnSp>
        <p:nvCxnSpPr>
          <p:cNvPr id="258" name="Google Shape;258;p19"/>
          <p:cNvCxnSpPr/>
          <p:nvPr/>
        </p:nvCxnSpPr>
        <p:spPr>
          <a:xfrm>
            <a:off x="711182" y="5333866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59" name="Google Shape;259;p19"/>
          <p:cNvSpPr txBox="1"/>
          <p:nvPr/>
        </p:nvSpPr>
        <p:spPr>
          <a:xfrm>
            <a:off x="711182" y="5473563"/>
            <a:ext cx="634984" cy="4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05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460463" y="5498962"/>
            <a:ext cx="355591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dirty="0" smtClean="0">
                <a:solidFill>
                  <a:schemeClr val="bg1"/>
                </a:solidFill>
                <a:latin typeface="Space Grotesk" panose="020B0604020202020204" charset="0"/>
                <a:cs typeface="Space Grotesk" panose="020B0604020202020204" charset="0"/>
              </a:rPr>
              <a:t>Auditable </a:t>
            </a:r>
            <a:r>
              <a:rPr lang="en-IN" sz="1600" b="1" dirty="0">
                <a:solidFill>
                  <a:schemeClr val="bg1"/>
                </a:solidFill>
                <a:latin typeface="Space Grotesk" panose="020B0604020202020204" charset="0"/>
                <a:cs typeface="Space Grotesk" panose="020B0604020202020204" charset="0"/>
              </a:rPr>
              <a:t>Self-Critique Trace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bg1"/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5206869" y="5524361"/>
            <a:ext cx="6273643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30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Transparent log showing how the Critic Agent evaluated and self-refined the output.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cxnSp>
        <p:nvCxnSpPr>
          <p:cNvPr id="262" name="Google Shape;262;p19"/>
          <p:cNvCxnSpPr/>
          <p:nvPr/>
        </p:nvCxnSpPr>
        <p:spPr>
          <a:xfrm>
            <a:off x="711182" y="6032349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0" descr="h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0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06 · Baseline &amp; evaluation</a:t>
            </a:r>
            <a:endParaRPr/>
          </a:p>
        </p:txBody>
      </p:sp>
      <p:cxnSp>
        <p:nvCxnSpPr>
          <p:cNvPr id="270" name="Google Shape;270;p20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71" name="Google Shape;271;p20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254793" y="6426039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0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273" name="Google Shape;273;p20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BASELINE &amp; EVALUATION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11182" y="1492212"/>
            <a:ext cx="10794730" cy="952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we'll </a:t>
            </a:r>
            <a:r>
              <a:rPr lang="en-US" sz="5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prove it works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711182" y="2539936"/>
            <a:ext cx="5206869" cy="1714457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914377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TODAY · WITHOUT YOUR SYSTEM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914377" y="2984425"/>
            <a:ext cx="48004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  <a:latin typeface="Instrument Serif" panose="020B0604020202020204" charset="0"/>
              </a:rPr>
              <a:t>180 – 240 </a:t>
            </a:r>
            <a:r>
              <a:rPr lang="en-US" sz="3000" b="1" dirty="0" err="1">
                <a:solidFill>
                  <a:schemeClr val="bg1"/>
                </a:solidFill>
                <a:latin typeface="Instrument Serif" panose="020B0604020202020204" charset="0"/>
              </a:rPr>
              <a:t>mins</a:t>
            </a:r>
            <a:r>
              <a:rPr lang="en-US" sz="3000" b="1" dirty="0">
                <a:solidFill>
                  <a:schemeClr val="bg1"/>
                </a:solidFill>
                <a:latin typeface="Instrument Serif" panose="020B0604020202020204" charset="0"/>
              </a:rPr>
              <a:t> (3-4 hours)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chemeClr val="bg1"/>
              </a:solidFill>
              <a:latin typeface="Instrument Serif" panose="020B0604020202020204" charset="0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914377" y="3619409"/>
            <a:ext cx="480047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Juggling 4+ separate tools (</a:t>
            </a:r>
            <a:r>
              <a:rPr lang="en-US" sz="1200" b="1" dirty="0" err="1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ChatGPT</a:t>
            </a:r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+ </a:t>
            </a:r>
            <a:r>
              <a:rPr lang="en-US" sz="1200" b="1" dirty="0" err="1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Canva</a:t>
            </a:r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+ Notion + Buffer). High manual design fatigue, frequent character truncation errors, and generic robotic AI output.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6273643" y="2539936"/>
            <a:ext cx="5206869" cy="1714457"/>
          </a:xfrm>
          <a:prstGeom prst="roundRect">
            <a:avLst>
              <a:gd name="adj" fmla="val 6000"/>
            </a:avLst>
          </a:prstGeom>
          <a:solidFill>
            <a:srgbClr val="2A2110"/>
          </a:solidFill>
          <a:ln w="12700" cap="flat" cmpd="sng">
            <a:solidFill>
              <a:srgbClr val="8A68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6476838" y="2717732"/>
            <a:ext cx="4825879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TARGET · WITH YOUR SYSTEM</a:t>
            </a:r>
            <a:endParaRPr dirty="0"/>
          </a:p>
        </p:txBody>
      </p:sp>
      <p:sp>
        <p:nvSpPr>
          <p:cNvPr id="281" name="Google Shape;281;p20"/>
          <p:cNvSpPr txBox="1"/>
          <p:nvPr/>
        </p:nvSpPr>
        <p:spPr>
          <a:xfrm>
            <a:off x="6476838" y="2984425"/>
            <a:ext cx="48004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3000" b="1" dirty="0">
                <a:solidFill>
                  <a:srgbClr val="FFC000"/>
                </a:solidFill>
                <a:latin typeface="Instrument Serif" panose="020B0604020202020204" charset="0"/>
              </a:rPr>
              <a:t>Under 60 seconds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FFC000"/>
              </a:solidFill>
              <a:latin typeface="Instrument Serif" panose="020B0604020202020204" charset="0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6426039" y="3591058"/>
            <a:ext cx="480047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End-to-end multi-channel campaign pack (LinkedIn + X + 5-slide visual carousel + reel script) generated and rendered in a single browser studio.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5918052" y="3206669"/>
            <a:ext cx="355591" cy="38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>
                <a:solidFill>
                  <a:srgbClr val="F2B632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711182" y="4508387"/>
            <a:ext cx="10769330" cy="1460463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914377" y="4683201"/>
            <a:ext cx="10362940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HOW YOU'LL EVALUATE IT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914377" y="4952876"/>
            <a:ext cx="10362940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1300" b="1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</a:t>
            </a: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Benchmark suite of 25 real-world brand briefs across SaaS, D2C, and Creator niches.</a:t>
            </a:r>
            <a:br>
              <a:rPr lang="en-US" sz="13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• Metrics reported: Latency (&lt;45s), 100% platform character compliance, zero graphic clipping, and human acceptance rate (&gt;85% with &lt;2 minor edits).</a:t>
            </a: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1" descr="top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07 · Team</a:t>
            </a:r>
            <a:endParaRPr/>
          </a:p>
        </p:txBody>
      </p:sp>
      <p:cxnSp>
        <p:nvCxnSpPr>
          <p:cNvPr id="294" name="Google Shape;294;p21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5" name="Google Shape;295;p21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254793" y="6426039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</a:t>
            </a:r>
            <a:r>
              <a:rPr lang="en-US" sz="90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297" name="Google Shape;297;p21"/>
          <p:cNvSpPr txBox="1"/>
          <p:nvPr/>
        </p:nvSpPr>
        <p:spPr>
          <a:xfrm>
            <a:off x="711182" y="1206469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711182" y="1492212"/>
            <a:ext cx="10794730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 err="1" smtClean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AgentX</a:t>
            </a:r>
            <a:endParaRPr dirty="0"/>
          </a:p>
        </p:txBody>
      </p:sp>
      <p:sp>
        <p:nvSpPr>
          <p:cNvPr id="299" name="Google Shape;299;p21"/>
          <p:cNvSpPr/>
          <p:nvPr/>
        </p:nvSpPr>
        <p:spPr>
          <a:xfrm>
            <a:off x="412787" y="2706456"/>
            <a:ext cx="3737374" cy="3174920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939776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01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02225" y="3147201"/>
            <a:ext cx="342891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err="1" smtClean="0">
                <a:solidFill>
                  <a:schemeClr val="bg1"/>
                </a:solidFill>
                <a:latin typeface="Instrument Serif" panose="020B0604020202020204" charset="0"/>
              </a:rPr>
              <a:t>Badgujar</a:t>
            </a:r>
            <a:r>
              <a:rPr lang="en-IN" sz="2800" b="1" dirty="0" smtClean="0">
                <a:solidFill>
                  <a:schemeClr val="bg1"/>
                </a:solidFill>
                <a:latin typeface="Instrument Serif" panose="020B0604020202020204" charset="0"/>
              </a:rPr>
              <a:t>  </a:t>
            </a:r>
            <a:r>
              <a:rPr lang="en-IN" sz="2800" b="1" dirty="0" err="1" smtClean="0">
                <a:solidFill>
                  <a:schemeClr val="bg1"/>
                </a:solidFill>
                <a:latin typeface="Instrument Serif" panose="020B0604020202020204" charset="0"/>
              </a:rPr>
              <a:t>Yash</a:t>
            </a:r>
            <a:r>
              <a:rPr lang="en-IN" sz="2800" b="1" dirty="0" smtClean="0">
                <a:solidFill>
                  <a:schemeClr val="bg1"/>
                </a:solidFill>
                <a:latin typeface="Instrument Serif" panose="020B0604020202020204" charset="0"/>
              </a:rPr>
              <a:t>  </a:t>
            </a:r>
            <a:r>
              <a:rPr lang="en-IN" sz="2800" b="1" dirty="0" err="1" smtClean="0">
                <a:solidFill>
                  <a:schemeClr val="bg1"/>
                </a:solidFill>
                <a:latin typeface="Instrument Serif" panose="020B0604020202020204" charset="0"/>
              </a:rPr>
              <a:t>Rameshbhai</a:t>
            </a:r>
            <a:endParaRPr lang="en-IN" sz="2800" b="1" dirty="0" smtClean="0">
              <a:solidFill>
                <a:schemeClr val="bg1"/>
              </a:solidFill>
              <a:latin typeface="Instrument Serif" panose="020B0604020202020204" charset="0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643045" y="3941286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 dirty="0"/>
          </a:p>
        </p:txBody>
      </p:sp>
      <p:sp>
        <p:nvSpPr>
          <p:cNvPr id="303" name="Google Shape;303;p21"/>
          <p:cNvSpPr txBox="1"/>
          <p:nvPr/>
        </p:nvSpPr>
        <p:spPr>
          <a:xfrm>
            <a:off x="1679510" y="3873403"/>
            <a:ext cx="2420891" cy="352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150" dirty="0" err="1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Sarvajanik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College </a:t>
            </a:r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of Engineering 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&amp; </a:t>
            </a:r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Technology ,Surat</a:t>
            </a:r>
            <a:endParaRPr sz="115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643045" y="4455582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 dirty="0"/>
          </a:p>
        </p:txBody>
      </p:sp>
      <p:sp>
        <p:nvSpPr>
          <p:cNvPr id="305" name="Google Shape;305;p21"/>
          <p:cNvSpPr txBox="1"/>
          <p:nvPr/>
        </p:nvSpPr>
        <p:spPr>
          <a:xfrm>
            <a:off x="1679510" y="4446958"/>
            <a:ext cx="1968450" cy="17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 smtClean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3rd Year </a:t>
            </a:r>
            <a:endParaRPr dirty="0"/>
          </a:p>
        </p:txBody>
      </p:sp>
      <p:sp>
        <p:nvSpPr>
          <p:cNvPr id="306" name="Google Shape;306;p21"/>
          <p:cNvSpPr txBox="1"/>
          <p:nvPr/>
        </p:nvSpPr>
        <p:spPr>
          <a:xfrm>
            <a:off x="641095" y="4992928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 dirty="0"/>
          </a:p>
        </p:txBody>
      </p:sp>
      <p:sp>
        <p:nvSpPr>
          <p:cNvPr id="307" name="Google Shape;307;p21"/>
          <p:cNvSpPr txBox="1"/>
          <p:nvPr/>
        </p:nvSpPr>
        <p:spPr>
          <a:xfrm>
            <a:off x="1679510" y="4813682"/>
            <a:ext cx="248163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Frontend &amp; UI Studio </a:t>
            </a:r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Lead (React/</a:t>
            </a:r>
            <a:r>
              <a:rPr lang="en-US" sz="1150" dirty="0" err="1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Vite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, Canvas Carousel renderer, Audio UI).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41095" y="5562572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 dirty="0"/>
          </a:p>
        </p:txBody>
      </p:sp>
      <p:sp>
        <p:nvSpPr>
          <p:cNvPr id="309" name="Google Shape;309;p21"/>
          <p:cNvSpPr txBox="1"/>
          <p:nvPr/>
        </p:nvSpPr>
        <p:spPr>
          <a:xfrm>
            <a:off x="1655329" y="5445338"/>
            <a:ext cx="2637572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115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  <a:hlinkClick r:id="rId4"/>
              </a:rPr>
              <a:t>https://www.linkedin.com/in/yash-badgujar-454551345</a:t>
            </a:r>
            <a:endParaRPr sz="115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303884" y="2706456"/>
            <a:ext cx="3735629" cy="3176401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609984" y="2870128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02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4738227" y="3176577"/>
            <a:ext cx="2984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smtClean="0">
                <a:solidFill>
                  <a:schemeClr val="bg1"/>
                </a:solidFill>
                <a:latin typeface="Instrument Serif" panose="020B0604020202020204" charset="0"/>
              </a:rPr>
              <a:t>Sonar   Anjali   </a:t>
            </a:r>
            <a:r>
              <a:rPr lang="en-IN" sz="2800" b="1" dirty="0" err="1" smtClean="0">
                <a:solidFill>
                  <a:schemeClr val="bg1"/>
                </a:solidFill>
                <a:latin typeface="Instrument Serif" panose="020B0604020202020204" charset="0"/>
              </a:rPr>
              <a:t>Shivdas</a:t>
            </a:r>
            <a:endParaRPr sz="2800" b="1" dirty="0">
              <a:solidFill>
                <a:schemeClr val="bg1"/>
              </a:solidFill>
              <a:latin typeface="Instrument Serif" panose="020B0604020202020204" charset="0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595267" y="3937865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 dirty="0"/>
          </a:p>
        </p:txBody>
      </p:sp>
      <p:sp>
        <p:nvSpPr>
          <p:cNvPr id="314" name="Google Shape;314;p21"/>
          <p:cNvSpPr txBox="1"/>
          <p:nvPr/>
        </p:nvSpPr>
        <p:spPr>
          <a:xfrm>
            <a:off x="5621664" y="3900394"/>
            <a:ext cx="243834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50" dirty="0" err="1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Sarvajanik</a:t>
            </a:r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College  of Engineering 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&amp; Technology ,</a:t>
            </a:r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Surat</a:t>
            </a:r>
          </a:p>
        </p:txBody>
      </p:sp>
      <p:sp>
        <p:nvSpPr>
          <p:cNvPr id="315" name="Google Shape;315;p21"/>
          <p:cNvSpPr txBox="1"/>
          <p:nvPr/>
        </p:nvSpPr>
        <p:spPr>
          <a:xfrm>
            <a:off x="4606150" y="4483049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 dirty="0"/>
          </a:p>
        </p:txBody>
      </p:sp>
      <p:sp>
        <p:nvSpPr>
          <p:cNvPr id="316" name="Google Shape;316;p21"/>
          <p:cNvSpPr txBox="1"/>
          <p:nvPr/>
        </p:nvSpPr>
        <p:spPr>
          <a:xfrm>
            <a:off x="5622124" y="4455919"/>
            <a:ext cx="1968450" cy="17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 smtClean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3rd Year </a:t>
            </a:r>
            <a:endParaRPr dirty="0"/>
          </a:p>
        </p:txBody>
      </p:sp>
      <p:sp>
        <p:nvSpPr>
          <p:cNvPr id="317" name="Google Shape;317;p21"/>
          <p:cNvSpPr txBox="1"/>
          <p:nvPr/>
        </p:nvSpPr>
        <p:spPr>
          <a:xfrm>
            <a:off x="4606150" y="4917194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 dirty="0"/>
          </a:p>
        </p:txBody>
      </p:sp>
      <p:sp>
        <p:nvSpPr>
          <p:cNvPr id="318" name="Google Shape;318;p21"/>
          <p:cNvSpPr txBox="1"/>
          <p:nvPr/>
        </p:nvSpPr>
        <p:spPr>
          <a:xfrm>
            <a:off x="5622124" y="4786263"/>
            <a:ext cx="196845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AI Pipeline &amp; Backend Lead (</a:t>
            </a:r>
            <a:r>
              <a:rPr lang="en-US" sz="1150" dirty="0" err="1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FastAPI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, Multi-Agent Chains, Anti-Slop Sanitizer).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4582520" y="5558500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 dirty="0"/>
          </a:p>
        </p:txBody>
      </p:sp>
      <p:sp>
        <p:nvSpPr>
          <p:cNvPr id="320" name="Google Shape;320;p21"/>
          <p:cNvSpPr txBox="1"/>
          <p:nvPr/>
        </p:nvSpPr>
        <p:spPr>
          <a:xfrm>
            <a:off x="5652340" y="5444173"/>
            <a:ext cx="196845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115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  <a:hlinkClick r:id="rId5"/>
              </a:rPr>
              <a:t>https://www.linkedin.com/in/anjali-sonar-149747314</a:t>
            </a:r>
            <a:endParaRPr sz="115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8184245" y="2715439"/>
            <a:ext cx="3947018" cy="3110532"/>
          </a:xfrm>
          <a:prstGeom prst="roundRect">
            <a:avLst>
              <a:gd name="adj" fmla="val 6000"/>
            </a:avLst>
          </a:prstGeom>
          <a:solidFill>
            <a:srgbClr val="17130E"/>
          </a:solidFill>
          <a:ln w="12700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8482906" y="2858781"/>
            <a:ext cx="2984425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dirty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MEMBER 03</a:t>
            </a:r>
            <a:endParaRPr dirty="0"/>
          </a:p>
        </p:txBody>
      </p:sp>
      <p:sp>
        <p:nvSpPr>
          <p:cNvPr id="323" name="Google Shape;323;p21"/>
          <p:cNvSpPr txBox="1"/>
          <p:nvPr/>
        </p:nvSpPr>
        <p:spPr>
          <a:xfrm>
            <a:off x="8665541" y="3166954"/>
            <a:ext cx="2984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 err="1" smtClean="0">
                <a:solidFill>
                  <a:schemeClr val="bg1"/>
                </a:solidFill>
                <a:latin typeface="Instrument Serif" panose="020B0604020202020204" charset="0"/>
              </a:rPr>
              <a:t>Jogi</a:t>
            </a:r>
            <a:r>
              <a:rPr lang="en-IN" sz="2800" b="1" dirty="0" smtClean="0">
                <a:solidFill>
                  <a:schemeClr val="bg1"/>
                </a:solidFill>
                <a:latin typeface="Instrument Serif" panose="020B0604020202020204" charset="0"/>
              </a:rPr>
              <a:t>   Pranav   Bharat</a:t>
            </a:r>
            <a:endParaRPr sz="2800" b="1" dirty="0">
              <a:solidFill>
                <a:schemeClr val="bg1"/>
              </a:solidFill>
              <a:latin typeface="Instrument Serif" panose="020B0604020202020204" charset="0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8400982" y="3900937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COLLEGE</a:t>
            </a:r>
            <a:endParaRPr dirty="0"/>
          </a:p>
        </p:txBody>
      </p:sp>
      <p:sp>
        <p:nvSpPr>
          <p:cNvPr id="325" name="Google Shape;325;p21"/>
          <p:cNvSpPr txBox="1"/>
          <p:nvPr/>
        </p:nvSpPr>
        <p:spPr>
          <a:xfrm>
            <a:off x="9655748" y="3850322"/>
            <a:ext cx="2458253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Shree 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Swami </a:t>
            </a:r>
            <a:r>
              <a:rPr lang="en-US" sz="1150" dirty="0" err="1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Atmanand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</a:t>
            </a:r>
            <a:r>
              <a:rPr lang="en-US" sz="1150" dirty="0" err="1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Saraswati</a:t>
            </a:r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Institute of </a:t>
            </a:r>
            <a:r>
              <a:rPr lang="en-US" sz="1150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Technology ,Surat</a:t>
            </a:r>
            <a:endParaRPr lang="en-US" sz="115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5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326" name="Google Shape;326;p21"/>
          <p:cNvSpPr txBox="1"/>
          <p:nvPr/>
        </p:nvSpPr>
        <p:spPr>
          <a:xfrm>
            <a:off x="8398263" y="4458026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YEAR</a:t>
            </a:r>
            <a:endParaRPr dirty="0"/>
          </a:p>
        </p:txBody>
      </p:sp>
      <p:sp>
        <p:nvSpPr>
          <p:cNvPr id="327" name="Google Shape;327;p21"/>
          <p:cNvSpPr txBox="1"/>
          <p:nvPr/>
        </p:nvSpPr>
        <p:spPr>
          <a:xfrm>
            <a:off x="9655748" y="4441892"/>
            <a:ext cx="1968450" cy="176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dirty="0" smtClean="0">
                <a:solidFill>
                  <a:srgbClr val="9E988E"/>
                </a:solidFill>
                <a:latin typeface="Space Grotesk"/>
                <a:ea typeface="Space Grotesk"/>
                <a:cs typeface="Space Grotesk"/>
                <a:sym typeface="Space Grotesk"/>
              </a:rPr>
              <a:t>3rd Year </a:t>
            </a:r>
            <a:endParaRPr dirty="0"/>
          </a:p>
        </p:txBody>
      </p:sp>
      <p:sp>
        <p:nvSpPr>
          <p:cNvPr id="328" name="Google Shape;328;p21"/>
          <p:cNvSpPr txBox="1"/>
          <p:nvPr/>
        </p:nvSpPr>
        <p:spPr>
          <a:xfrm>
            <a:off x="8398263" y="4913632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ROLE</a:t>
            </a:r>
            <a:endParaRPr dirty="0"/>
          </a:p>
        </p:txBody>
      </p:sp>
      <p:sp>
        <p:nvSpPr>
          <p:cNvPr id="329" name="Google Shape;329;p21"/>
          <p:cNvSpPr txBox="1"/>
          <p:nvPr/>
        </p:nvSpPr>
        <p:spPr>
          <a:xfrm>
            <a:off x="9671125" y="4765972"/>
            <a:ext cx="1968450" cy="884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Testing, Cloud Deployment &amp; Pitch Lead (25-brief </a:t>
            </a:r>
            <a:r>
              <a:rPr lang="en-US" sz="1150" dirty="0" err="1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eval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 suite, </a:t>
            </a:r>
            <a:r>
              <a:rPr lang="en-US" sz="1150" dirty="0" err="1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Vercel</a:t>
            </a:r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>, 3-min video).</a:t>
            </a:r>
          </a:p>
          <a:p>
            <a: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  <a:t/>
            </a:r>
            <a:br>
              <a:rPr lang="en-US" sz="1150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</a:rPr>
            </a:br>
            <a:endParaRPr sz="1150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8400827" y="5502585"/>
            <a:ext cx="1015974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LINKEDIN</a:t>
            </a:r>
            <a:endParaRPr dirty="0"/>
          </a:p>
        </p:txBody>
      </p:sp>
      <p:sp>
        <p:nvSpPr>
          <p:cNvPr id="331" name="Google Shape;331;p21"/>
          <p:cNvSpPr txBox="1"/>
          <p:nvPr/>
        </p:nvSpPr>
        <p:spPr>
          <a:xfrm>
            <a:off x="9681516" y="5415044"/>
            <a:ext cx="196845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115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  <a:hlinkClick r:id="rId6"/>
              </a:rPr>
              <a:t>https://www.linkedin.com/in/pranav-jogi-768443378</a:t>
            </a:r>
            <a:endParaRPr sz="115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2" descr="hot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711182" y="586779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6984825" y="599478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cxnSp>
        <p:nvCxnSpPr>
          <p:cNvPr id="339" name="Google Shape;339;p22"/>
          <p:cNvCxnSpPr/>
          <p:nvPr/>
        </p:nvCxnSpPr>
        <p:spPr>
          <a:xfrm>
            <a:off x="711182" y="6314335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22"/>
          <p:cNvSpPr txBox="1"/>
          <p:nvPr/>
        </p:nvSpPr>
        <p:spPr>
          <a:xfrm>
            <a:off x="711182" y="6441332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8254793" y="6454032"/>
            <a:ext cx="322571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00" b="0" i="0" dirty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 </a:t>
            </a:r>
            <a:r>
              <a:rPr lang="en-US" sz="900" b="0" i="0" dirty="0" smtClean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dirty="0"/>
          </a:p>
        </p:txBody>
      </p:sp>
      <p:sp>
        <p:nvSpPr>
          <p:cNvPr id="342" name="Google Shape;342;p22"/>
          <p:cNvSpPr txBox="1"/>
          <p:nvPr/>
        </p:nvSpPr>
        <p:spPr>
          <a:xfrm>
            <a:off x="711182" y="3012418"/>
            <a:ext cx="5714857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 err="1" smtClean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AgentX</a:t>
            </a:r>
            <a:r>
              <a:rPr lang="en-US" sz="950" b="1" i="0" dirty="0" smtClean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950" b="1" i="0" dirty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· [</a:t>
            </a:r>
            <a:r>
              <a:rPr lang="en-US" sz="950" b="1" i="0" dirty="0" smtClean="0">
                <a:solidFill>
                  <a:srgbClr val="F2B63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PS-02]</a:t>
            </a:r>
            <a:endParaRPr dirty="0"/>
          </a:p>
        </p:txBody>
      </p:sp>
      <p:sp>
        <p:nvSpPr>
          <p:cNvPr id="343" name="Google Shape;343;p22"/>
          <p:cNvSpPr txBox="1"/>
          <p:nvPr/>
        </p:nvSpPr>
        <p:spPr>
          <a:xfrm>
            <a:off x="711182" y="3266412"/>
            <a:ext cx="10159746" cy="139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0" i="0" dirty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</a:t>
            </a:r>
            <a:r>
              <a:rPr lang="en-US" sz="11000" b="0" i="1" dirty="0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you.</a:t>
            </a:r>
            <a:endParaRPr dirty="0"/>
          </a:p>
        </p:txBody>
      </p:sp>
      <p:sp>
        <p:nvSpPr>
          <p:cNvPr id="344" name="Google Shape;344;p22"/>
          <p:cNvSpPr txBox="1"/>
          <p:nvPr/>
        </p:nvSpPr>
        <p:spPr>
          <a:xfrm>
            <a:off x="711182" y="5107866"/>
            <a:ext cx="5714857" cy="190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>
                <a:solidFill>
                  <a:srgbClr val="75706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OUR PUBLIC POST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711182" y="5355190"/>
            <a:ext cx="88897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  <a:hlinkClick r:id="rId4"/>
              </a:rPr>
              <a:t>https://</a:t>
            </a:r>
            <a:r>
              <a:rPr lang="en-IN" sz="2000" b="1" dirty="0" smtClean="0">
                <a:solidFill>
                  <a:schemeClr val="bg1">
                    <a:lumMod val="65000"/>
                  </a:schemeClr>
                </a:solidFill>
                <a:latin typeface="Space Grotesk" panose="020B0604020202020204" charset="0"/>
                <a:cs typeface="Space Grotesk" panose="020B0604020202020204" charset="0"/>
                <a:hlinkClick r:id="rId4"/>
              </a:rPr>
              <a:t>lnkd.in/p/dZv7yfSr</a:t>
            </a:r>
            <a:endParaRPr lang="en-IN" sz="2000" b="1" dirty="0">
              <a:solidFill>
                <a:schemeClr val="bg1">
                  <a:lumMod val="65000"/>
                </a:schemeClr>
              </a:solidFill>
              <a:latin typeface="Space Grotesk" panose="020B0604020202020204" charset="0"/>
              <a:cs typeface="Space Grotesk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732</Words>
  <Application>Microsoft Office PowerPoint</Application>
  <PresentationFormat>Widescreen</PresentationFormat>
  <Paragraphs>135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Instrument Serif</vt:lpstr>
      <vt:lpstr>Space Grotesk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ABCD</dc:creator>
  <cp:lastModifiedBy>ABCD</cp:lastModifiedBy>
  <cp:revision>21</cp:revision>
  <dcterms:modified xsi:type="dcterms:W3CDTF">2026-09-26T21:37:24Z</dcterms:modified>
</cp:coreProperties>
</file>